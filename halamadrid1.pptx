
<file path=[Content_Types].xml><?xml version="1.0" encoding="utf-8"?>
<Types xmlns="http://schemas.openxmlformats.org/package/2006/content-types">
  <Default Extension="jfif" ContentType="image/jpeg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2C7"/>
    <a:srgbClr val="CBE2AC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C27F0-312B-41EA-93D5-51816C017C77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D3D52-ABD0-4C77-9DF4-33DF02F55A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7719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C27F0-312B-41EA-93D5-51816C017C77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D3D52-ABD0-4C77-9DF4-33DF02F55A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3795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C27F0-312B-41EA-93D5-51816C017C77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D3D52-ABD0-4C77-9DF4-33DF02F55A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2391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C27F0-312B-41EA-93D5-51816C017C77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D3D52-ABD0-4C77-9DF4-33DF02F55A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2156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C27F0-312B-41EA-93D5-51816C017C77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D3D52-ABD0-4C77-9DF4-33DF02F55A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579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C27F0-312B-41EA-93D5-51816C017C77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D3D52-ABD0-4C77-9DF4-33DF02F55A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9141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C27F0-312B-41EA-93D5-51816C017C77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D3D52-ABD0-4C77-9DF4-33DF02F55A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9694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C27F0-312B-41EA-93D5-51816C017C77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D3D52-ABD0-4C77-9DF4-33DF02F55A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9665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C27F0-312B-41EA-93D5-51816C017C77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D3D52-ABD0-4C77-9DF4-33DF02F55A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030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C27F0-312B-41EA-93D5-51816C017C77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D3D52-ABD0-4C77-9DF4-33DF02F55A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8967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C27F0-312B-41EA-93D5-51816C017C77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D3D52-ABD0-4C77-9DF4-33DF02F55A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5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8C27F0-312B-41EA-93D5-51816C017C77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6D3D52-ABD0-4C77-9DF4-33DF02F55A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8551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fif"/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jfif"/><Relationship Id="rId4" Type="http://schemas.openxmlformats.org/officeDocument/2006/relationships/image" Target="../media/image6.jfi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fif"/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fi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fif"/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65"/>
            <a:ext cx="12086790" cy="676597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41413"/>
            <a:ext cx="12192001" cy="6899413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2534417" y="2761962"/>
            <a:ext cx="847817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5400" b="1" i="0" dirty="0" smtClean="0">
                <a:solidFill>
                  <a:srgbClr val="CBE2AC"/>
                </a:solidFill>
                <a:effectLst/>
                <a:latin typeface="Bahnschrift SemiBold Condensed" panose="020B0502040204020203" pitchFamily="34" charset="0"/>
              </a:rPr>
              <a:t>Коран Онлайн — Путь к Свету</a:t>
            </a:r>
            <a:endParaRPr lang="ru-RU" sz="5400" dirty="0">
              <a:solidFill>
                <a:srgbClr val="CBE2AC"/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2534417" y="3577312"/>
            <a:ext cx="991207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0" i="0" dirty="0" smtClean="0">
                <a:solidFill>
                  <a:srgbClr val="CBE2AC"/>
                </a:solidFill>
                <a:effectLst/>
                <a:latin typeface="Bahnschrift SemiBold SemiConden" panose="020B0502040204020203" pitchFamily="34" charset="0"/>
              </a:rPr>
              <a:t>Презентация проекта — исламский образовательный сайт</a:t>
            </a:r>
            <a:endParaRPr lang="ru-RU" sz="2000" dirty="0">
              <a:solidFill>
                <a:srgbClr val="CBE2AC"/>
              </a:solidFill>
              <a:latin typeface="Bahnschrift SemiBold SemiConden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6892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7052" y="568171"/>
            <a:ext cx="3142094" cy="558594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6" name="Прямоугольник 5"/>
          <p:cNvSpPr/>
          <p:nvPr/>
        </p:nvSpPr>
        <p:spPr>
          <a:xfrm>
            <a:off x="562853" y="1208930"/>
            <a:ext cx="772001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i="1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Целью данного проекта является создание доступной,</a:t>
            </a:r>
          </a:p>
          <a:p>
            <a:r>
              <a:rPr lang="ru-RU" sz="1600" b="1" i="1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уважительной и современной платформы для изучения </a:t>
            </a:r>
          </a:p>
          <a:p>
            <a:r>
              <a:rPr lang="ru-RU" sz="1600" b="1" i="1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Корана и исламских знаний, которая будет полезна для детей, </a:t>
            </a:r>
            <a:endParaRPr lang="en-US" sz="1600" b="1" i="1" dirty="0" smtClean="0">
              <a:solidFill>
                <a:srgbClr val="E6E2C7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ru-RU" sz="1600" b="1" i="1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подростков и взрослых.</a:t>
            </a:r>
          </a:p>
          <a:p>
            <a:r>
              <a:rPr lang="ru-RU" sz="1600" b="1" i="1" dirty="0">
                <a:solidFill>
                  <a:srgbClr val="E6E2C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Ф</a:t>
            </a:r>
            <a:r>
              <a:rPr lang="ru-RU" sz="1600" b="1" i="1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окус сделан на правильном чтении Корана с соблюдением </a:t>
            </a:r>
          </a:p>
          <a:p>
            <a:r>
              <a:rPr lang="ru-RU" sz="1600" b="1" i="1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правил </a:t>
            </a:r>
            <a:r>
              <a:rPr lang="ru-RU" sz="1600" b="1" i="1" dirty="0" err="1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таджвида</a:t>
            </a:r>
            <a:r>
              <a:rPr lang="ru-RU" sz="1600" b="1" i="1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на понимании смыслов священных текстов </a:t>
            </a:r>
          </a:p>
          <a:p>
            <a:r>
              <a:rPr lang="ru-RU" sz="1600" b="1" i="1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и на мотивации пользователей к регулярной практике.</a:t>
            </a:r>
            <a:endParaRPr lang="ru-RU" sz="1600" b="1" i="1" dirty="0">
              <a:solidFill>
                <a:srgbClr val="E6E2C7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387051" y="285226"/>
            <a:ext cx="337983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800" b="1" dirty="0" smtClean="0">
                <a:solidFill>
                  <a:srgbClr val="E6E2C7"/>
                </a:solidFill>
                <a:effectLst/>
                <a:latin typeface="Bahnschrift SemiBold Condensed" panose="020B0502040204020203" pitchFamily="34" charset="0"/>
              </a:rPr>
              <a:t> Цель проекта</a:t>
            </a:r>
            <a:endParaRPr lang="ru-RU" sz="4800" b="1" dirty="0" smtClean="0">
              <a:solidFill>
                <a:srgbClr val="E6E2C7"/>
              </a:solidFill>
              <a:effectLst/>
              <a:latin typeface="Bahnschrift SemiBold Condensed" panose="020B0502040204020203" pitchFamily="34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562853" y="4354043"/>
            <a:ext cx="146226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b="1" dirty="0" smtClean="0">
                <a:solidFill>
                  <a:srgbClr val="E6E2C7"/>
                </a:solidFill>
                <a:latin typeface="Bahnschrift SemiBold Condensed" panose="020B0502040204020203" pitchFamily="34" charset="0"/>
                <a:ea typeface="Cambria" panose="02040503050406030204" pitchFamily="18" charset="0"/>
              </a:rPr>
              <a:t>З</a:t>
            </a:r>
            <a:r>
              <a:rPr lang="ru-RU" sz="4000" b="1" dirty="0" smtClean="0">
                <a:solidFill>
                  <a:srgbClr val="E6E2C7"/>
                </a:solidFill>
                <a:effectLst/>
                <a:latin typeface="Bahnschrift SemiBold Condensed" panose="020B0502040204020203" pitchFamily="34" charset="0"/>
                <a:ea typeface="Cambria" panose="02040503050406030204" pitchFamily="18" charset="0"/>
              </a:rPr>
              <a:t>адачи</a:t>
            </a:r>
            <a:endParaRPr lang="ru-RU" sz="4000" b="1" dirty="0" smtClean="0">
              <a:solidFill>
                <a:srgbClr val="E6E2C7"/>
              </a:solidFill>
              <a:effectLst/>
              <a:latin typeface="Bahnschrift SemiBold Condensed" panose="020B0502040204020203" pitchFamily="34" charset="0"/>
              <a:ea typeface="Cambria" panose="020405030504060302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2541973" y="345178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0" i="0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обучение </a:t>
            </a:r>
            <a:r>
              <a:rPr lang="ru-RU" b="0" i="0" dirty="0" err="1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таджвиду</a:t>
            </a:r>
            <a:r>
              <a:rPr lang="ru-RU" b="0" i="0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через </a:t>
            </a:r>
          </a:p>
          <a:p>
            <a:r>
              <a:rPr lang="ru-RU" dirty="0">
                <a:solidFill>
                  <a:srgbClr val="E6E2C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и</a:t>
            </a:r>
            <a:r>
              <a:rPr lang="ru-RU" b="0" i="0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нтерактивные уроки и </a:t>
            </a:r>
            <a:r>
              <a:rPr lang="ru-RU" sz="1600" b="0" i="0" dirty="0" err="1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аудиоподсказки</a:t>
            </a:r>
            <a:endParaRPr lang="ru-RU" dirty="0">
              <a:solidFill>
                <a:srgbClr val="E6E2C7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2541973" y="4288893"/>
            <a:ext cx="574089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0" i="0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предоставить структурированный курс по девяноста девяти именам Аллаха с подробным контекстом, разъяснением значений и практическими примерами </a:t>
            </a:r>
            <a:r>
              <a:rPr lang="ru-RU" sz="1600" b="0" i="0" dirty="0" err="1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дуа</a:t>
            </a:r>
            <a:r>
              <a:rPr lang="ru-RU" sz="1600" b="0" i="0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ru-RU" sz="1600" dirty="0">
              <a:solidFill>
                <a:srgbClr val="E6E2C7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2541973" y="5378567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600" b="0" i="0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увеличить вовлеченность пользователей через игровые механики, такие как викторины</a:t>
            </a:r>
            <a:endParaRPr lang="ru-RU" sz="1600" dirty="0">
              <a:solidFill>
                <a:srgbClr val="E6E2C7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Левая фигурная скобка 11"/>
          <p:cNvSpPr/>
          <p:nvPr/>
        </p:nvSpPr>
        <p:spPr>
          <a:xfrm>
            <a:off x="2148396" y="3630967"/>
            <a:ext cx="159798" cy="2201662"/>
          </a:xfrm>
          <a:prstGeom prst="leftBrace">
            <a:avLst/>
          </a:prstGeom>
          <a:ln>
            <a:solidFill>
              <a:srgbClr val="CBE2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2602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</p:spPr>
      </p:pic>
      <p:sp>
        <p:nvSpPr>
          <p:cNvPr id="3" name="Прямоугольник 2"/>
          <p:cNvSpPr/>
          <p:nvPr/>
        </p:nvSpPr>
        <p:spPr>
          <a:xfrm>
            <a:off x="164144" y="1455020"/>
            <a:ext cx="6096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600" b="1" i="0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Первый раздел </a:t>
            </a:r>
            <a:r>
              <a:rPr lang="ru-RU" sz="1600" b="0" i="0" dirty="0" smtClean="0">
                <a:solidFill>
                  <a:srgbClr val="CBE2AC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— «</a:t>
            </a:r>
            <a:r>
              <a:rPr lang="ru-RU" sz="1600" b="0" i="0" dirty="0" err="1" smtClean="0">
                <a:solidFill>
                  <a:srgbClr val="CBE2AC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Таджвид</a:t>
            </a:r>
            <a:r>
              <a:rPr lang="ru-RU" sz="1600" b="0" i="0" dirty="0" smtClean="0">
                <a:solidFill>
                  <a:srgbClr val="CBE2AC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» — содержит интерактивные уроки с </a:t>
            </a:r>
            <a:r>
              <a:rPr lang="ru-RU" sz="1600" b="0" i="0" dirty="0" err="1" smtClean="0">
                <a:solidFill>
                  <a:srgbClr val="CBE2AC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аудиосопровождением</a:t>
            </a:r>
            <a:r>
              <a:rPr lang="ru-RU" sz="1600" b="0" i="0" dirty="0" smtClean="0">
                <a:solidFill>
                  <a:srgbClr val="CBE2AC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и визуальной разметкой </a:t>
            </a:r>
            <a:r>
              <a:rPr lang="ru-RU" sz="1600" b="0" i="0" dirty="0" err="1" smtClean="0">
                <a:solidFill>
                  <a:srgbClr val="CBE2AC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аятов</a:t>
            </a:r>
            <a:r>
              <a:rPr lang="ru-RU" sz="1600" b="0" i="0" dirty="0" smtClean="0">
                <a:solidFill>
                  <a:srgbClr val="CBE2AC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для наглядного изучения правил чтения.</a:t>
            </a:r>
          </a:p>
          <a:p>
            <a:endParaRPr lang="ru-RU" sz="1600" dirty="0">
              <a:solidFill>
                <a:srgbClr val="CBE2A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ru-RU" sz="1600" b="0" i="0" dirty="0" smtClean="0">
              <a:solidFill>
                <a:srgbClr val="CBE2AC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ru-RU" sz="1600" b="1" i="0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Второй раздел </a:t>
            </a:r>
            <a:r>
              <a:rPr lang="ru-RU" sz="1600" b="0" i="0" dirty="0" smtClean="0">
                <a:solidFill>
                  <a:srgbClr val="CBE2AC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— «Девяносто девять имен» — представляет собой карточки с именем Аллаха, его значением, транскрипцией и сопровождающими </a:t>
            </a:r>
            <a:r>
              <a:rPr lang="ru-RU" sz="1600" b="0" i="0" dirty="0" err="1" smtClean="0">
                <a:solidFill>
                  <a:srgbClr val="CBE2AC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дуа</a:t>
            </a:r>
            <a:r>
              <a:rPr lang="ru-RU" sz="1600" b="0" i="0" dirty="0" smtClean="0">
                <a:solidFill>
                  <a:srgbClr val="CBE2AC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endParaRPr lang="ru-RU" sz="1600" dirty="0" smtClean="0">
              <a:solidFill>
                <a:srgbClr val="CBE2A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ru-RU" sz="1600" b="0" i="0" dirty="0">
              <a:solidFill>
                <a:srgbClr val="CBE2AC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ru-RU" sz="1600" b="1" i="0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Третий раздел </a:t>
            </a:r>
            <a:r>
              <a:rPr lang="ru-RU" sz="1600" b="0" i="0" dirty="0" smtClean="0">
                <a:solidFill>
                  <a:srgbClr val="CBE2AC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— «Викторина» — предлагает короткие тесты с мгновенной обратной связью, что позволяет быстро проверить усвоенный материал.</a:t>
            </a:r>
          </a:p>
          <a:p>
            <a:endParaRPr lang="ru-RU" sz="1600" dirty="0">
              <a:solidFill>
                <a:srgbClr val="CBE2A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ru-RU" sz="1600" b="0" i="0" dirty="0" smtClean="0">
              <a:solidFill>
                <a:srgbClr val="CBE2AC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ru-RU" sz="1600" b="1" i="0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Четвертый раздел </a:t>
            </a:r>
            <a:r>
              <a:rPr lang="ru-RU" sz="1600" b="0" i="0" dirty="0" smtClean="0">
                <a:solidFill>
                  <a:srgbClr val="CBE2AC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— «Курсы» — включает тематические модули с расписанием и </a:t>
            </a:r>
            <a:r>
              <a:rPr lang="ru-RU" sz="1600" b="0" i="0" dirty="0" err="1" smtClean="0">
                <a:solidFill>
                  <a:srgbClr val="CBE2AC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видеоуроками</a:t>
            </a:r>
            <a:r>
              <a:rPr lang="ru-RU" sz="1600" b="0" i="0" dirty="0" smtClean="0">
                <a:solidFill>
                  <a:srgbClr val="CBE2AC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где пользователь может отслеживать свой прогресс.</a:t>
            </a:r>
            <a:endParaRPr lang="ru-RU" sz="1600" b="0" i="0" dirty="0">
              <a:solidFill>
                <a:srgbClr val="CBE2AC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651957" y="180459"/>
            <a:ext cx="436850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400" b="1" dirty="0" smtClean="0">
                <a:solidFill>
                  <a:srgbClr val="CBE2AC"/>
                </a:solidFill>
                <a:effectLst/>
                <a:latin typeface="Bahnschrift SemiBold Condensed" panose="020B0502040204020203" pitchFamily="34" charset="0"/>
              </a:rPr>
              <a:t>Обзор разделов сайта</a:t>
            </a:r>
            <a:endParaRPr lang="ru-RU" sz="4400" b="1" dirty="0" smtClean="0">
              <a:solidFill>
                <a:srgbClr val="CBE2AC"/>
              </a:solidFill>
              <a:effectLst/>
              <a:latin typeface="Bahnschrift SemiBold Condensed" panose="020B0502040204020203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735861" y="797054"/>
            <a:ext cx="22846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b="1" dirty="0" smtClean="0">
                <a:solidFill>
                  <a:srgbClr val="CBE2AC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8 основных разделов</a:t>
            </a:r>
            <a:endParaRPr lang="ru-RU" sz="1600" b="1" dirty="0" smtClean="0">
              <a:solidFill>
                <a:srgbClr val="CBE2AC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6260144" y="1455019"/>
            <a:ext cx="6096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600" b="1" i="0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Пятый раздел </a:t>
            </a:r>
            <a:r>
              <a:rPr lang="ru-RU" sz="1600" b="0" i="0" dirty="0" smtClean="0">
                <a:solidFill>
                  <a:srgbClr val="CBE2AC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— «Библиотека» — содержит переводы, толкования и статьи в формате PDF и текстовом виде для углубленного изучения.</a:t>
            </a:r>
          </a:p>
          <a:p>
            <a:endParaRPr lang="ru-RU" sz="1600" dirty="0">
              <a:solidFill>
                <a:srgbClr val="CBE2A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ru-RU" sz="1600" b="0" i="0" dirty="0" smtClean="0">
              <a:solidFill>
                <a:srgbClr val="CBE2AC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ru-RU" sz="1600" b="1" i="0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Шестой раздел </a:t>
            </a:r>
            <a:r>
              <a:rPr lang="ru-RU" sz="1600" b="0" i="0" dirty="0" smtClean="0">
                <a:solidFill>
                  <a:srgbClr val="CBE2AC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— «Сообщество» — предоставляет форумы и группы для совместного изучения, где участники могут общаться и обмениваться опытом.</a:t>
            </a:r>
          </a:p>
          <a:p>
            <a:endParaRPr lang="ru-RU" sz="1600" dirty="0">
              <a:solidFill>
                <a:srgbClr val="CBE2A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ru-RU" sz="1600" b="0" i="0" dirty="0" smtClean="0">
              <a:solidFill>
                <a:srgbClr val="CBE2AC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ru-RU" sz="1600" b="1" i="0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Седьмой раздел </a:t>
            </a:r>
            <a:r>
              <a:rPr lang="ru-RU" sz="1600" b="0" i="0" dirty="0" smtClean="0">
                <a:solidFill>
                  <a:srgbClr val="CBE2AC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— «Сертификаты» — автоматически генерирует документ в формате PDF после успешного завершения курса.</a:t>
            </a:r>
          </a:p>
          <a:p>
            <a:endParaRPr lang="ru-RU" sz="1600" dirty="0">
              <a:solidFill>
                <a:srgbClr val="CBE2A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ru-RU" sz="1600" b="0" i="0" dirty="0" smtClean="0">
              <a:solidFill>
                <a:srgbClr val="CBE2AC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ru-RU" sz="1600" b="1" i="0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Восьмой раздел </a:t>
            </a:r>
            <a:r>
              <a:rPr lang="ru-RU" sz="1600" b="0" i="0" dirty="0" smtClean="0">
                <a:solidFill>
                  <a:srgbClr val="CBE2AC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— «Профиль» — включает настройки пользователя и полный трекинг прогресса в виде </a:t>
            </a:r>
            <a:r>
              <a:rPr lang="ru-RU" sz="1600" b="0" i="0" dirty="0" err="1" smtClean="0">
                <a:solidFill>
                  <a:srgbClr val="CBE2AC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дашборда</a:t>
            </a:r>
            <a:r>
              <a:rPr lang="ru-RU" sz="1600" b="0" i="0" dirty="0" smtClean="0">
                <a:solidFill>
                  <a:srgbClr val="CBE2AC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где отображаются все достижения и пройденные темы.</a:t>
            </a:r>
            <a:endParaRPr lang="ru-RU" sz="1600" b="0" i="0" dirty="0">
              <a:solidFill>
                <a:srgbClr val="CBE2AC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9408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1" y="0"/>
            <a:ext cx="12192000" cy="6858000"/>
          </a:xfrm>
        </p:spPr>
      </p:pic>
      <p:sp>
        <p:nvSpPr>
          <p:cNvPr id="3" name="Прямоугольник 2"/>
          <p:cNvSpPr/>
          <p:nvPr/>
        </p:nvSpPr>
        <p:spPr>
          <a:xfrm>
            <a:off x="646176" y="365125"/>
            <a:ext cx="7032694" cy="6196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4000"/>
              </a:lnSpc>
              <a:tabLst>
                <a:tab pos="0" algn="l"/>
              </a:tabLst>
            </a:pPr>
            <a:r>
              <a:rPr lang="en-US" sz="3600" b="1" dirty="0" err="1">
                <a:solidFill>
                  <a:srgbClr val="E6E2C7"/>
                </a:solidFill>
                <a:latin typeface="Bahnschrift SemiBold SemiConden" panose="020B0502040204020203" pitchFamily="34" charset="0"/>
                <a:ea typeface="Inter Bold"/>
              </a:rPr>
              <a:t>Ключевые</a:t>
            </a:r>
            <a:r>
              <a:rPr lang="en-US" sz="3600" b="1" dirty="0">
                <a:solidFill>
                  <a:srgbClr val="E6E2C7"/>
                </a:solidFill>
                <a:latin typeface="Bahnschrift SemiBold SemiConden" panose="020B0502040204020203" pitchFamily="34" charset="0"/>
                <a:ea typeface="Inter Bold"/>
              </a:rPr>
              <a:t> </a:t>
            </a:r>
            <a:r>
              <a:rPr lang="en-US" sz="3600" b="1" dirty="0" err="1">
                <a:solidFill>
                  <a:srgbClr val="E6E2C7"/>
                </a:solidFill>
                <a:latin typeface="Bahnschrift SemiBold SemiConden" panose="020B0502040204020203" pitchFamily="34" charset="0"/>
                <a:ea typeface="Inter Bold"/>
              </a:rPr>
              <a:t>разделы</a:t>
            </a:r>
            <a:r>
              <a:rPr lang="en-US" sz="3600" b="1" dirty="0">
                <a:solidFill>
                  <a:srgbClr val="E6E2C7"/>
                </a:solidFill>
                <a:latin typeface="Bahnschrift SemiBold SemiConden" panose="020B0502040204020203" pitchFamily="34" charset="0"/>
                <a:ea typeface="Inter Bold"/>
              </a:rPr>
              <a:t> — </a:t>
            </a:r>
            <a:r>
              <a:rPr lang="en-US" sz="3600" b="1" dirty="0" err="1">
                <a:solidFill>
                  <a:srgbClr val="E6E2C7"/>
                </a:solidFill>
                <a:latin typeface="Bahnschrift SemiBold SemiConden" panose="020B0502040204020203" pitchFamily="34" charset="0"/>
                <a:ea typeface="Inter Bold"/>
              </a:rPr>
              <a:t>демонстрация</a:t>
            </a:r>
            <a:endParaRPr lang="ru-RU" sz="3600" dirty="0">
              <a:solidFill>
                <a:srgbClr val="E6E2C7"/>
              </a:solidFill>
              <a:latin typeface="Bahnschrift SemiBold SemiConden" panose="020B0502040204020203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426" y="4886324"/>
            <a:ext cx="1792033" cy="1792033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97" t="19066" r="5621" b="33520"/>
          <a:stretch/>
        </p:blipFill>
        <p:spPr>
          <a:xfrm>
            <a:off x="566929" y="2923326"/>
            <a:ext cx="1782530" cy="187324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466" b="12400"/>
          <a:stretch/>
        </p:blipFill>
        <p:spPr>
          <a:xfrm>
            <a:off x="541571" y="1027906"/>
            <a:ext cx="1807888" cy="1804138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2541483" y="1145145"/>
            <a:ext cx="554126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0" i="0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Раздел «</a:t>
            </a:r>
            <a:r>
              <a:rPr lang="ru-RU" sz="1600" b="0" i="0" dirty="0" err="1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Таджвид</a:t>
            </a:r>
            <a:r>
              <a:rPr lang="ru-RU" sz="1600" b="0" i="0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» представляет собой пошаговые уроки, которые охватывают фонетику, артикуляцию звуков и правила произношения. В каждом уроке подробно разбираются правила сунна и </a:t>
            </a:r>
            <a:r>
              <a:rPr lang="ru-RU" sz="1600" b="0" i="0" dirty="0" err="1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махраж</a:t>
            </a:r>
            <a:r>
              <a:rPr lang="ru-RU" sz="1600" b="0" i="0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то есть места выхода звуков, что критически важно для правильного чтения Корана. </a:t>
            </a:r>
            <a:endParaRPr lang="ru-RU" sz="1600" dirty="0">
              <a:solidFill>
                <a:srgbClr val="E6E2C7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14" t="17592" r="53492" b="8254"/>
          <a:stretch/>
        </p:blipFill>
        <p:spPr>
          <a:xfrm>
            <a:off x="9360324" y="674953"/>
            <a:ext cx="1573149" cy="1773839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2619375" y="3165127"/>
            <a:ext cx="470535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0" i="0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На карточке указан арабский текст имени, транскрипция для правильного произношения, смысловой перевод и глубокое толкование, раскрывающее значение имени в контексте Корана. К каждому имени прилагается пример </a:t>
            </a:r>
            <a:r>
              <a:rPr lang="ru-RU" sz="1600" b="0" i="0" dirty="0" err="1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дуа</a:t>
            </a:r>
            <a:r>
              <a:rPr lang="ru-RU" sz="1600" b="0" i="0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с его использованием</a:t>
            </a:r>
            <a:endParaRPr lang="ru-RU" sz="1600" dirty="0">
              <a:solidFill>
                <a:srgbClr val="E6E2C7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29" t="24033" r="10955" b="13845"/>
          <a:stretch/>
        </p:blipFill>
        <p:spPr>
          <a:xfrm>
            <a:off x="7620465" y="2714805"/>
            <a:ext cx="4317690" cy="2019300"/>
          </a:xfrm>
          <a:prstGeom prst="rect">
            <a:avLst/>
          </a:prstGeom>
        </p:spPr>
      </p:pic>
      <p:sp>
        <p:nvSpPr>
          <p:cNvPr id="15" name="Прямоугольник 14"/>
          <p:cNvSpPr/>
          <p:nvPr/>
        </p:nvSpPr>
        <p:spPr>
          <a:xfrm>
            <a:off x="2619375" y="5344267"/>
            <a:ext cx="444817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0" i="0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Раздел «Викторина» представляет собой интерактивную игру, которая позволяет проверить знания об Исламе в увлекательной форме.</a:t>
            </a:r>
            <a:endParaRPr lang="ru-RU" sz="1600" dirty="0">
              <a:solidFill>
                <a:srgbClr val="E6E2C7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466" y="5078061"/>
            <a:ext cx="4317690" cy="1600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007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</p:spPr>
      </p:pic>
      <p:sp>
        <p:nvSpPr>
          <p:cNvPr id="3" name="Прямоугольник 2"/>
          <p:cNvSpPr/>
          <p:nvPr/>
        </p:nvSpPr>
        <p:spPr>
          <a:xfrm>
            <a:off x="476249" y="365125"/>
            <a:ext cx="8715375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b="1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Интерактивные возможности</a:t>
            </a:r>
          </a:p>
          <a:p>
            <a:r>
              <a:rPr lang="ru-RU" b="0" i="0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Платформа оснащена несколькими интерактивными инструментами, которые повышают удобство обучения и удерживают внимание пользователя.</a:t>
            </a:r>
          </a:p>
          <a:p>
            <a:endParaRPr lang="ru-RU" dirty="0">
              <a:solidFill>
                <a:srgbClr val="E6E2C7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ru-RU" b="0" i="0" dirty="0" smtClean="0">
              <a:solidFill>
                <a:srgbClr val="E6E2C7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ru-RU" b="1" i="1" dirty="0" smtClean="0">
                <a:solidFill>
                  <a:srgbClr val="CBE2AC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Слайдер</a:t>
            </a:r>
            <a:r>
              <a:rPr lang="ru-RU" b="0" i="0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уроков позволяет пошагово пролистывать темы, при этом система автоматически запоминает, на каком уроке пользователь остановился, и предлагает продолжить с этого места при следующем визите.</a:t>
            </a:r>
          </a:p>
          <a:p>
            <a:endParaRPr lang="ru-RU" b="0" i="0" dirty="0" smtClean="0">
              <a:solidFill>
                <a:srgbClr val="E6E2C7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ru-RU" b="0" i="0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Также предусмотрены </a:t>
            </a:r>
            <a:r>
              <a:rPr lang="ru-RU" b="1" i="1" dirty="0" smtClean="0">
                <a:solidFill>
                  <a:srgbClr val="CBE2AC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адаптивные подсказки</a:t>
            </a:r>
            <a:r>
              <a:rPr lang="ru-RU" b="0" i="0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которые появляются в зависимости от уровня подготовки пользователя.</a:t>
            </a:r>
          </a:p>
          <a:p>
            <a:endParaRPr lang="ru-RU" b="0" i="0" dirty="0" smtClean="0">
              <a:solidFill>
                <a:srgbClr val="E6E2C7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ru-RU" b="0" i="0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Глобальный </a:t>
            </a:r>
            <a:r>
              <a:rPr lang="ru-RU" b="1" i="1" dirty="0" smtClean="0">
                <a:solidFill>
                  <a:srgbClr val="CBE2AC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прогресс-</a:t>
            </a:r>
            <a:r>
              <a:rPr lang="ru-RU" b="1" i="1" dirty="0" err="1" smtClean="0">
                <a:solidFill>
                  <a:srgbClr val="CBE2AC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трекер</a:t>
            </a:r>
            <a:r>
              <a:rPr lang="ru-RU" b="0" i="0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отображает общий прогресс по всем разделам сайта в процентах и визуально разделен на уровни и </a:t>
            </a:r>
            <a:r>
              <a:rPr lang="ru-RU" b="0" i="0" dirty="0" err="1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бейджи</a:t>
            </a:r>
            <a:r>
              <a:rPr lang="ru-RU" b="0" i="0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которые выдаются за выполнение временных задач, например, за прохождение пяти уроков за неделю или за правильное выполнение всех заданий в викторине.</a:t>
            </a:r>
          </a:p>
          <a:p>
            <a:endParaRPr lang="ru-RU" b="0" i="0" dirty="0" smtClean="0">
              <a:solidFill>
                <a:srgbClr val="E6E2C7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ru-RU" b="1" i="1" dirty="0" smtClean="0">
                <a:solidFill>
                  <a:srgbClr val="CBE2AC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Сертификаты</a:t>
            </a:r>
            <a:r>
              <a:rPr lang="ru-RU" b="0" i="0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генерируются автоматически в формате PDF с цифровой подписью, печатью и уникальным кодом, по которому любой желающий может проверить подлинность документа на сайте.</a:t>
            </a:r>
            <a:endParaRPr lang="ru-RU" b="0" i="0" dirty="0">
              <a:solidFill>
                <a:srgbClr val="E6E2C7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7133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</p:spPr>
      </p:pic>
      <p:sp>
        <p:nvSpPr>
          <p:cNvPr id="3" name="Прямоугольник 2"/>
          <p:cNvSpPr/>
          <p:nvPr/>
        </p:nvSpPr>
        <p:spPr>
          <a:xfrm>
            <a:off x="714374" y="365125"/>
            <a:ext cx="802005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b="1" dirty="0" smtClean="0">
                <a:solidFill>
                  <a:srgbClr val="E6E2C7"/>
                </a:solidFill>
                <a:effectLst/>
                <a:latin typeface="Bahnschrift SemiBold Condensed" panose="020B0502040204020203" pitchFamily="34" charset="0"/>
              </a:rPr>
              <a:t>Технологии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6209" y="1246617"/>
            <a:ext cx="4597467" cy="2586075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697517" y="1225252"/>
            <a:ext cx="559117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rgbClr val="E6E2C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На </a:t>
            </a:r>
            <a:r>
              <a:rPr lang="ru-RU" sz="2000" dirty="0" err="1">
                <a:solidFill>
                  <a:srgbClr val="E6E2C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фронтенде</a:t>
            </a:r>
            <a:r>
              <a:rPr lang="ru-RU" sz="2000" dirty="0">
                <a:solidFill>
                  <a:srgbClr val="E6E2C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сайт реализован с использованием </a:t>
            </a:r>
            <a:r>
              <a:rPr lang="ru-RU" sz="2000" dirty="0" err="1">
                <a:solidFill>
                  <a:srgbClr val="E6E2C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нативного</a:t>
            </a:r>
            <a:r>
              <a:rPr lang="ru-RU" sz="2000" dirty="0">
                <a:solidFill>
                  <a:srgbClr val="E6E2C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стека технологий — </a:t>
            </a:r>
          </a:p>
          <a:p>
            <a:r>
              <a:rPr lang="ru-RU" sz="2000" dirty="0">
                <a:solidFill>
                  <a:srgbClr val="E6E2C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HTML, </a:t>
            </a:r>
          </a:p>
          <a:p>
            <a:r>
              <a:rPr lang="ru-RU" sz="2000" dirty="0">
                <a:solidFill>
                  <a:srgbClr val="E6E2C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CSS </a:t>
            </a:r>
          </a:p>
          <a:p>
            <a:r>
              <a:rPr lang="ru-RU" sz="2000" dirty="0" err="1">
                <a:solidFill>
                  <a:srgbClr val="E6E2C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JavaScript</a:t>
            </a:r>
            <a:r>
              <a:rPr lang="ru-RU" sz="2000" dirty="0">
                <a:solidFill>
                  <a:srgbClr val="E6E2C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r>
              <a:rPr lang="ru-RU" sz="2000" dirty="0" smtClean="0">
                <a:solidFill>
                  <a:srgbClr val="E6E2C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Ч</a:t>
            </a:r>
            <a:r>
              <a:rPr lang="ru-RU" sz="2000" b="0" i="0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то обеспечивает легкий вес страниц и быструю загрузку даже при медленном </a:t>
            </a:r>
            <a:r>
              <a:rPr lang="ru-RU" sz="2000" b="0" i="0" dirty="0" err="1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интернет-соединении</a:t>
            </a:r>
            <a:r>
              <a:rPr lang="ru-RU" sz="2000" b="0" i="0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ru-RU" sz="2000" b="0" i="0" dirty="0">
              <a:solidFill>
                <a:srgbClr val="E6E2C7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2628900" y="4468183"/>
            <a:ext cx="919162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0" i="0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Для хостинга выбрана платформа </a:t>
            </a:r>
            <a:r>
              <a:rPr lang="ru-RU" b="0" i="0" dirty="0" err="1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GitHub</a:t>
            </a:r>
            <a:r>
              <a:rPr lang="ru-RU" b="0" i="0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0" i="0" dirty="0" err="1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Pages</a:t>
            </a:r>
            <a:r>
              <a:rPr lang="ru-RU" b="0" i="0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которая предоставляет бесплатное и надежное размещение статических сайтов, а также простую непрерывную интеграцию через </a:t>
            </a:r>
            <a:r>
              <a:rPr lang="ru-RU" b="0" i="0" dirty="0" err="1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Git</a:t>
            </a:r>
            <a:r>
              <a:rPr lang="ru-RU" b="0" i="0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что позволяет обновлять сайт простым пул-</a:t>
            </a:r>
            <a:r>
              <a:rPr lang="ru-RU" b="0" i="0" dirty="0" err="1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реквестом</a:t>
            </a:r>
            <a:r>
              <a:rPr lang="ru-RU" b="0" i="0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r>
              <a:rPr lang="ru-RU" b="0" i="0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Дополнительно внедрены техники </a:t>
            </a:r>
            <a:r>
              <a:rPr lang="ru-RU" b="0" i="0" dirty="0" err="1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progressive</a:t>
            </a:r>
            <a:r>
              <a:rPr lang="ru-RU" b="0" i="0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0" i="0" dirty="0" err="1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enhancement</a:t>
            </a:r>
            <a:r>
              <a:rPr lang="ru-RU" b="0" i="0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благодаря которым сайт корректно отображается в устаревших браузерах, и ARIA-атрибуты для обеспечения доступности контента для людей с ограниченными возможностями.</a:t>
            </a:r>
            <a:endParaRPr lang="ru-RU" b="0" i="0" dirty="0">
              <a:solidFill>
                <a:srgbClr val="E6E2C7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779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" name="Прямоугольник 4"/>
          <p:cNvSpPr/>
          <p:nvPr/>
        </p:nvSpPr>
        <p:spPr>
          <a:xfrm>
            <a:off x="6230242" y="4195172"/>
            <a:ext cx="566311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0" i="0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Для заголовков используется арабская каллиграфия, что подчеркивает тематику сайта, а для интерфейсных элементов и основного текста применяются простые латинский и кириллический шрифты с достаточным размером и межстрочным интервалом для комфортного чтения.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750590" y="435124"/>
            <a:ext cx="488146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rgbClr val="E6E2C7"/>
                </a:solidFill>
                <a:effectLst/>
                <a:latin typeface="Bahnschrift SemiBold Condensed" panose="020B0502040204020203" pitchFamily="34" charset="0"/>
              </a:rPr>
              <a:t>Дизайн — эстетика и доступность</a:t>
            </a:r>
            <a:endParaRPr lang="ru-RU" sz="3200" b="1" dirty="0" smtClean="0">
              <a:solidFill>
                <a:srgbClr val="E6E2C7"/>
              </a:solidFill>
              <a:effectLst/>
              <a:latin typeface="Bahnschrift SemiBold Condensed" panose="020B0502040204020203" pitchFamily="34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2584055" y="1642476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0" i="0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Основная палитра проекта построена на глубоком зеленом цвете и золотистом акценте, которые символизируют спокойствие и связь с исламскими традициями, при этом нейтральные фоны обеспечивают высокую читаемость текста.</a:t>
            </a:r>
            <a:endParaRPr lang="ru-RU" b="0" i="0" dirty="0" smtClean="0">
              <a:solidFill>
                <a:srgbClr val="E6E2C7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422" y="1019899"/>
            <a:ext cx="2071878" cy="2764747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9541" y="3631639"/>
            <a:ext cx="2222053" cy="296173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5" name="Прямоугольник 14"/>
          <p:cNvSpPr/>
          <p:nvPr/>
        </p:nvSpPr>
        <p:spPr>
          <a:xfrm>
            <a:off x="707814" y="4407223"/>
            <a:ext cx="229391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b="0" i="0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Также предусмотрена темная тема, которая активируется по желанию пользователя и обеспечивает комфортное чтение в ночное время благодаря мягкому темному фону и сниженной контрастности с золотыми акцентами.</a:t>
            </a:r>
            <a:endParaRPr lang="ru-RU" sz="1200" dirty="0">
              <a:solidFill>
                <a:srgbClr val="E6E2C7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4638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</p:spPr>
      </p:pic>
      <p:sp>
        <p:nvSpPr>
          <p:cNvPr id="3" name="Прямоугольник 2"/>
          <p:cNvSpPr/>
          <p:nvPr/>
        </p:nvSpPr>
        <p:spPr>
          <a:xfrm>
            <a:off x="1044767" y="4953219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b="0" i="1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Также в краткосрочной перспективе необходимо подготовить дополнительные уроки и </a:t>
            </a:r>
            <a:r>
              <a:rPr lang="ru-RU" b="0" i="1" dirty="0" err="1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финализировать</a:t>
            </a:r>
            <a:r>
              <a:rPr lang="ru-RU" b="0" i="1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пользовательский опыт, в среднесрочной — добавить аутентификацию и персонализацию, а в долгосрочной — выйти на уровень полноценной образовательной платформы с широким функционалом.</a:t>
            </a:r>
            <a:endParaRPr lang="ru-RU" b="0" i="1" dirty="0">
              <a:solidFill>
                <a:srgbClr val="E6E2C7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603631" y="129659"/>
            <a:ext cx="267893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b="1" dirty="0" smtClean="0">
                <a:solidFill>
                  <a:srgbClr val="E6E2C7"/>
                </a:solidFill>
                <a:effectLst/>
                <a:latin typeface="Bahnschrift SemiBold Condensed" panose="020B0502040204020203" pitchFamily="34" charset="0"/>
              </a:rPr>
              <a:t>План развития</a:t>
            </a:r>
            <a:endParaRPr lang="ru-RU" sz="4000" b="1" dirty="0" smtClean="0">
              <a:solidFill>
                <a:srgbClr val="E6E2C7"/>
              </a:solidFill>
              <a:effectLst/>
              <a:latin typeface="Bahnschrift SemiBold Condensed" panose="020B0502040204020203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03631" y="795000"/>
            <a:ext cx="42291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0" i="0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Развитие проекта разделено на несколько этапов с разными временными рамками.</a:t>
            </a:r>
            <a:endParaRPr lang="ru-RU" b="0" i="0" dirty="0" smtClean="0">
              <a:solidFill>
                <a:srgbClr val="E6E2C7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6096000" y="1108010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b="0" i="1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На первом этапе,</a:t>
            </a:r>
          </a:p>
          <a:p>
            <a:pPr algn="ctr"/>
            <a:r>
              <a:rPr lang="ru-RU" b="0" i="1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который рассчитан на один-три </a:t>
            </a:r>
          </a:p>
          <a:p>
            <a:pPr algn="ctr"/>
            <a:r>
              <a:rPr lang="ru-RU" b="0" i="1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месяца, планируется завершить минимально жизнеспособный продукт, то есть статические уроки, викторину и базовую верстку.</a:t>
            </a:r>
            <a:endParaRPr lang="ru-RU" b="0" i="1" dirty="0" smtClean="0">
              <a:solidFill>
                <a:srgbClr val="E6E2C7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044767" y="2040349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b="0" i="1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На втором этапе,</a:t>
            </a:r>
          </a:p>
          <a:p>
            <a:pPr algn="ctr"/>
            <a:r>
              <a:rPr lang="ru-RU" b="0" i="1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который займет от трех до девяти месяцев, будет добавлена система регистрации пользователей с личными профилями, полноценный трекинг прогресса и форумы для общения в сообществе.</a:t>
            </a:r>
            <a:endParaRPr lang="ru-RU" b="0" i="1" dirty="0" smtClean="0">
              <a:solidFill>
                <a:srgbClr val="E6E2C7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6018309" y="3216767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b="0" i="1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На третьем этапе, </a:t>
            </a:r>
          </a:p>
          <a:p>
            <a:pPr algn="ctr"/>
            <a:r>
              <a:rPr lang="ru-RU" b="0" i="1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рассчитанном на девять-восемнадцать месяцев, планируется масштабирование: добавление </a:t>
            </a:r>
            <a:r>
              <a:rPr lang="ru-RU" b="0" i="1" dirty="0" err="1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мультиязычности</a:t>
            </a:r>
            <a:r>
              <a:rPr lang="ru-RU" b="0" i="1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выпуск мобильного приложения, разработка открытого API и заключение партнерств с образовательными организациями.</a:t>
            </a:r>
            <a:endParaRPr lang="ru-RU" b="0" i="1" dirty="0" smtClean="0">
              <a:solidFill>
                <a:srgbClr val="E6E2C7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4213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</p:spPr>
      </p:pic>
      <p:sp>
        <p:nvSpPr>
          <p:cNvPr id="3" name="Прямоугольник 2"/>
          <p:cNvSpPr/>
          <p:nvPr/>
        </p:nvSpPr>
        <p:spPr>
          <a:xfrm>
            <a:off x="6095999" y="1114286"/>
            <a:ext cx="6096000" cy="480131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i="0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Миссия</a:t>
            </a:r>
            <a:r>
              <a:rPr lang="ru-RU" b="0" i="0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проекта заключается в том, чтобы сделать изучение Корана доступным, уважительным и вдохновляющим для каждого пользователя, независимо от его возраста и уровня подготовки.</a:t>
            </a:r>
          </a:p>
          <a:p>
            <a:endParaRPr lang="ru-RU" b="0" i="0" dirty="0" smtClean="0">
              <a:solidFill>
                <a:srgbClr val="E6E2C7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ru-RU" b="0" i="0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На текущий момент минимально жизнеспособный продукт полностью работоспособен: сайт сверстан, размещен на хостинге </a:t>
            </a:r>
            <a:r>
              <a:rPr lang="ru-RU" b="0" i="0" dirty="0" err="1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GitHub</a:t>
            </a:r>
            <a:r>
              <a:rPr lang="ru-RU" b="0" i="0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0" i="0" dirty="0" err="1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Pages</a:t>
            </a:r>
            <a:r>
              <a:rPr lang="ru-RU" b="0" i="0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базовые разделы реализованы и проходят тестирование.</a:t>
            </a:r>
          </a:p>
          <a:p>
            <a:endParaRPr lang="ru-RU" b="0" i="0" dirty="0" smtClean="0">
              <a:solidFill>
                <a:srgbClr val="E6E2C7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ru-RU" b="0" i="0" dirty="0" smtClean="0">
                <a:solidFill>
                  <a:srgbClr val="E6E2C7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Однако для дальнейшего развития требуются дополнительные ресурсы, включая контент-наполнение в виде новых уроков и аудиоматериалов, проведение пользовательского тестирования для выявления слабых мест интерфейса и привлечение финансирования для разработки расширенного функционала.</a:t>
            </a:r>
            <a:endParaRPr lang="ru-RU" b="0" i="0" dirty="0">
              <a:solidFill>
                <a:srgbClr val="E6E2C7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189" y="857250"/>
            <a:ext cx="5143500" cy="5143500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4479706" y="149364"/>
            <a:ext cx="290816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b="1" dirty="0" smtClean="0">
                <a:solidFill>
                  <a:srgbClr val="E6E2C7"/>
                </a:solidFill>
                <a:effectLst/>
                <a:latin typeface="Bahnschrift SemiBold Condensed" panose="020B0502040204020203" pitchFamily="34" charset="0"/>
              </a:rPr>
              <a:t>Итоги и выводы</a:t>
            </a:r>
            <a:endParaRPr lang="ru-RU" sz="4000" b="1" dirty="0" smtClean="0">
              <a:solidFill>
                <a:srgbClr val="E6E2C7"/>
              </a:solidFill>
              <a:effectLst/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965867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923</Words>
  <Application>Microsoft Office PowerPoint</Application>
  <PresentationFormat>Широкоэкранный</PresentationFormat>
  <Paragraphs>80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7" baseType="lpstr">
      <vt:lpstr>Arial</vt:lpstr>
      <vt:lpstr>Bahnschrift SemiBold Condensed</vt:lpstr>
      <vt:lpstr>Bahnschrift SemiBold SemiConden</vt:lpstr>
      <vt:lpstr>Calibri</vt:lpstr>
      <vt:lpstr>Calibri Light</vt:lpstr>
      <vt:lpstr>Cambria</vt:lpstr>
      <vt:lpstr>Inter Bold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PC</dc:creator>
  <cp:lastModifiedBy>PC</cp:lastModifiedBy>
  <cp:revision>11</cp:revision>
  <dcterms:created xsi:type="dcterms:W3CDTF">2026-06-21T19:13:08Z</dcterms:created>
  <dcterms:modified xsi:type="dcterms:W3CDTF">2026-06-21T20:24:15Z</dcterms:modified>
</cp:coreProperties>
</file>